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7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777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3D3470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663440"/>
            <a:ext cx="2377440" cy="2377440"/>
          </a:xfrm>
          <a:prstGeom prst="ellipse">
            <a:avLst/>
          </a:prstGeom>
          <a:solidFill>
            <a:srgbClr val="3D347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822960" cy="822960"/>
          </a:xfrm>
          <a:prstGeom prst="ellipse">
            <a:avLst/>
          </a:prstGeom>
          <a:solidFill>
            <a:srgbClr val="F0A500"/>
          </a:solidFill>
          <a:ln/>
        </p:spPr>
      </p:sp>
      <p:pic>
        <p:nvPicPr>
          <p:cNvPr id="5" name="Image 0" descr="/home/claude/work/icons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2573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1704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 ·  VOLIOD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9601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Voice-First AI</a:t>
            </a:r>
            <a:b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VOLIOD 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41248" y="44348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Typing. Zero Scrolling. Pure Hands-Free Booking.</a:t>
            </a:r>
            <a:endParaRPr lang="en-US" sz="1800" dirty="0"/>
          </a:p>
        </p:txBody>
      </p:sp>
      <p:sp>
        <p:nvSpPr>
          <p:cNvPr id="41" name="Text Team"/>
          <p:cNvSpPr/>
          <p:nvPr/>
        </p:nvSpPr>
        <p:spPr>
          <a:xfrm>
            <a:off x="841248" y="50063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spc="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30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Shobhit Saxena (BCS2023036)  ·  Ridhima (BCS2023059)  ·  Sneha Gade (BCS2023040)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1248" y="5623560"/>
            <a:ext cx="457200" cy="457200"/>
          </a:xfrm>
          <a:prstGeom prst="ellipse">
            <a:avLst/>
          </a:prstGeom>
          <a:solidFill>
            <a:srgbClr val="3D3470"/>
          </a:solidFill>
          <a:ln/>
        </p:spPr>
      </p:sp>
      <p:pic>
        <p:nvPicPr>
          <p:cNvPr id="10" name="Image 1" descr="/home/claude/work/icons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5737860"/>
            <a:ext cx="228600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618488" y="5623560"/>
            <a:ext cx="457200" cy="457200"/>
          </a:xfrm>
          <a:prstGeom prst="ellipse">
            <a:avLst/>
          </a:prstGeom>
          <a:solidFill>
            <a:srgbClr val="3D3470"/>
          </a:solidFill>
          <a:ln/>
        </p:spPr>
      </p:sp>
      <p:pic>
        <p:nvPicPr>
          <p:cNvPr id="12" name="Image 2" descr="/home/claude/work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788" y="5737860"/>
            <a:ext cx="228600" cy="228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395728" y="5623560"/>
            <a:ext cx="457200" cy="457200"/>
          </a:xfrm>
          <a:prstGeom prst="ellipse">
            <a:avLst/>
          </a:prstGeom>
          <a:solidFill>
            <a:srgbClr val="3D3470"/>
          </a:solidFill>
          <a:ln/>
        </p:spPr>
      </p:sp>
      <p:pic>
        <p:nvPicPr>
          <p:cNvPr id="14" name="Image 3" descr="/home/claude/work/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0028" y="5737860"/>
            <a:ext cx="228600" cy="2286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172968" y="5623560"/>
            <a:ext cx="457200" cy="457200"/>
          </a:xfrm>
          <a:prstGeom prst="ellipse">
            <a:avLst/>
          </a:prstGeom>
          <a:solidFill>
            <a:srgbClr val="3D3470"/>
          </a:solidFill>
          <a:ln/>
        </p:spPr>
      </p:sp>
      <p:pic>
        <p:nvPicPr>
          <p:cNvPr id="16" name="Image 4" descr="/home/claude/work/icons/qr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7268" y="5737860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AI MOVIE CONCIERGE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movie-booking flows fall short — and how voice changes that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F1EEFA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566928" cy="566928"/>
          </a:xfrm>
          <a:prstGeom prst="ellipse">
            <a:avLst/>
          </a:prstGeom>
          <a:solidFill>
            <a:srgbClr val="1A1440"/>
          </a:solidFill>
          <a:ln/>
        </p:spPr>
      </p:sp>
      <p:pic>
        <p:nvPicPr>
          <p:cNvPr id="6" name="Image 0" descr="/home/claude/work/icons/alert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83" y="22391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526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lack time for scrolling and typing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personalized, mood-based recommendations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booking experience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080760" y="173736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1A1440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103120"/>
            <a:ext cx="566928" cy="566928"/>
          </a:xfrm>
          <a:prstGeom prst="ellipse">
            <a:avLst/>
          </a:prstGeom>
          <a:solidFill>
            <a:srgbClr val="F0A500"/>
          </a:solidFill>
          <a:ln/>
        </p:spPr>
      </p:sp>
      <p:pic>
        <p:nvPicPr>
          <p:cNvPr id="11" name="Image 1" descr="/home/claude/work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863" y="223918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00800" y="2971800"/>
            <a:ext cx="4526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Voice-first: just speak your preference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mood analysis + location filtering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UPI QR payment — complete booking in seconds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AI MOVIE CONCIERGE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User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from spoken request to confirmed booking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600200" cy="2834640"/>
          </a:xfrm>
          <a:prstGeom prst="roundRect">
            <a:avLst>
              <a:gd name="adj" fmla="val 5714"/>
            </a:avLst>
          </a:prstGeom>
          <a:solidFill>
            <a:srgbClr val="F1EEFA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38428" y="2651760"/>
            <a:ext cx="603504" cy="603504"/>
          </a:xfrm>
          <a:prstGeom prst="ellipse">
            <a:avLst/>
          </a:prstGeom>
          <a:solidFill>
            <a:srgbClr val="1A1440"/>
          </a:solidFill>
          <a:ln/>
        </p:spPr>
      </p:sp>
      <p:pic>
        <p:nvPicPr>
          <p:cNvPr id="6" name="Image 0" descr="/home/claude/work/icons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269" y="2796601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4414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3474720"/>
            <a:ext cx="14538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35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speaks their movie preference and location out loud.</a:t>
            </a:r>
            <a:endParaRPr lang="en-US" sz="900" dirty="0"/>
          </a:p>
        </p:txBody>
      </p:sp>
      <p:pic>
        <p:nvPicPr>
          <p:cNvPr id="9" name="Image 1" descr="/home/claude/wor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424" y="3630168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496312" y="2331720"/>
            <a:ext cx="1600200" cy="2834640"/>
          </a:xfrm>
          <a:prstGeom prst="roundRect">
            <a:avLst>
              <a:gd name="adj" fmla="val 5714"/>
            </a:avLst>
          </a:prstGeom>
          <a:solidFill>
            <a:srgbClr val="F1EEFA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994660" y="2651760"/>
            <a:ext cx="603504" cy="603504"/>
          </a:xfrm>
          <a:prstGeom prst="ellipse">
            <a:avLst/>
          </a:prstGeom>
          <a:solidFill>
            <a:srgbClr val="1A1440"/>
          </a:solidFill>
          <a:ln/>
        </p:spPr>
      </p:sp>
      <p:pic>
        <p:nvPicPr>
          <p:cNvPr id="12" name="Image 2" descr="/home/claude/work/icons/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9501" y="2796601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606040" y="24414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2569464" y="3474720"/>
            <a:ext cx="14538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Processing</a:t>
            </a:r>
            <a:endParaRPr lang="en-US" sz="135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is converted to text in real time via Whisper or Deepgram.</a:t>
            </a:r>
            <a:endParaRPr lang="en-US" sz="900" dirty="0"/>
          </a:p>
        </p:txBody>
      </p:sp>
      <p:pic>
        <p:nvPicPr>
          <p:cNvPr id="15" name="Image 3" descr="/home/claude/wor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5656" y="3630168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352544" y="2331720"/>
            <a:ext cx="1600200" cy="2834640"/>
          </a:xfrm>
          <a:prstGeom prst="roundRect">
            <a:avLst>
              <a:gd name="adj" fmla="val 5714"/>
            </a:avLst>
          </a:prstGeom>
          <a:solidFill>
            <a:srgbClr val="1A1440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850892" y="2651760"/>
            <a:ext cx="603504" cy="603504"/>
          </a:xfrm>
          <a:prstGeom prst="ellipse">
            <a:avLst/>
          </a:prstGeom>
          <a:solidFill>
            <a:srgbClr val="F0A500"/>
          </a:solidFill>
          <a:ln/>
        </p:spPr>
      </p:sp>
      <p:pic>
        <p:nvPicPr>
          <p:cNvPr id="18" name="Image 4" descr="/home/claude/work/icons/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5733" y="2796601"/>
            <a:ext cx="313822" cy="31382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462272" y="24414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425696" y="3474720"/>
            <a:ext cx="14538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35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US" sz="90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reads mood, genre and intent from the request.</a:t>
            </a:r>
            <a:endParaRPr lang="en-US" sz="900" dirty="0"/>
          </a:p>
        </p:txBody>
      </p:sp>
      <p:pic>
        <p:nvPicPr>
          <p:cNvPr id="21" name="Image 5" descr="/home/claude/wor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3630168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208776" y="2331720"/>
            <a:ext cx="1600200" cy="2834640"/>
          </a:xfrm>
          <a:prstGeom prst="roundRect">
            <a:avLst>
              <a:gd name="adj" fmla="val 5714"/>
            </a:avLst>
          </a:prstGeom>
          <a:solidFill>
            <a:srgbClr val="F1EEFA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707124" y="2651760"/>
            <a:ext cx="603504" cy="603504"/>
          </a:xfrm>
          <a:prstGeom prst="ellipse">
            <a:avLst/>
          </a:prstGeom>
          <a:solidFill>
            <a:srgbClr val="1A1440"/>
          </a:solidFill>
          <a:ln/>
        </p:spPr>
      </p:sp>
      <p:pic>
        <p:nvPicPr>
          <p:cNvPr id="24" name="Image 6" descr="/home/claude/work/icons/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1965" y="2796601"/>
            <a:ext cx="313822" cy="31382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318504" y="24414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6281928" y="3474720"/>
            <a:ext cx="14538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Showtime Search</a:t>
            </a:r>
            <a:endParaRPr lang="en-US" sz="135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movies and showtimes are pulled from nearby theaters.</a:t>
            </a:r>
            <a:endParaRPr lang="en-US" sz="900" dirty="0"/>
          </a:p>
        </p:txBody>
      </p:sp>
      <p:pic>
        <p:nvPicPr>
          <p:cNvPr id="27" name="Image 7" descr="/home/claude/wor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630168"/>
            <a:ext cx="237744" cy="23774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8065008" y="2331720"/>
            <a:ext cx="1600200" cy="2834640"/>
          </a:xfrm>
          <a:prstGeom prst="roundRect">
            <a:avLst>
              <a:gd name="adj" fmla="val 5714"/>
            </a:avLst>
          </a:prstGeom>
          <a:solidFill>
            <a:srgbClr val="F1EEFA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8563356" y="2651760"/>
            <a:ext cx="603504" cy="603504"/>
          </a:xfrm>
          <a:prstGeom prst="ellipse">
            <a:avLst/>
          </a:prstGeom>
          <a:solidFill>
            <a:srgbClr val="1A1440"/>
          </a:solidFill>
          <a:ln/>
        </p:spPr>
      </p:sp>
      <p:pic>
        <p:nvPicPr>
          <p:cNvPr id="30" name="Image 8" descr="/home/claude/work/icons/message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8197" y="2796601"/>
            <a:ext cx="313822" cy="31382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174736" y="24414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8138160" y="3474720"/>
            <a:ext cx="14538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Confirmation</a:t>
            </a:r>
            <a:endParaRPr lang="en-US" sz="135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back the match and confirms the booking by voice.</a:t>
            </a:r>
            <a:endParaRPr lang="en-US" sz="900" dirty="0"/>
          </a:p>
        </p:txBody>
      </p:sp>
      <p:pic>
        <p:nvPicPr>
          <p:cNvPr id="33" name="Image 9" descr="/home/claude/wor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352" y="3630168"/>
            <a:ext cx="237744" cy="237744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9921240" y="2331720"/>
            <a:ext cx="1600200" cy="2834640"/>
          </a:xfrm>
          <a:prstGeom prst="roundRect">
            <a:avLst>
              <a:gd name="adj" fmla="val 5714"/>
            </a:avLst>
          </a:prstGeom>
          <a:solidFill>
            <a:srgbClr val="F1EEFA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35" name="Shape 23"/>
          <p:cNvSpPr/>
          <p:nvPr/>
        </p:nvSpPr>
        <p:spPr>
          <a:xfrm>
            <a:off x="10419588" y="2651760"/>
            <a:ext cx="603504" cy="603504"/>
          </a:xfrm>
          <a:prstGeom prst="ellipse">
            <a:avLst/>
          </a:prstGeom>
          <a:solidFill>
            <a:srgbClr val="1A1440"/>
          </a:solidFill>
          <a:ln/>
        </p:spPr>
      </p:sp>
      <p:pic>
        <p:nvPicPr>
          <p:cNvPr id="36" name="Image 10" descr="/home/claude/work/icons/qrco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64429" y="2796601"/>
            <a:ext cx="313822" cy="313822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10030968" y="24414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25"/>
          <p:cNvSpPr/>
          <p:nvPr/>
        </p:nvSpPr>
        <p:spPr>
          <a:xfrm>
            <a:off x="9994392" y="3474720"/>
            <a:ext cx="14538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Payment</a:t>
            </a:r>
            <a:endParaRPr lang="en-US" sz="135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 UPI QR code is generated to complete payment.</a:t>
            </a:r>
            <a:endParaRPr lang="en-US" sz="900" dirty="0"/>
          </a:p>
        </p:txBody>
      </p:sp>
      <p:sp>
        <p:nvSpPr>
          <p:cNvPr id="39" name="Text 26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AI MOVIE CONCIERGE</a:t>
            </a:r>
            <a:endParaRPr lang="en-US" sz="900" dirty="0"/>
          </a:p>
        </p:txBody>
      </p:sp>
      <p:sp>
        <p:nvSpPr>
          <p:cNvPr id="40" name="Text 27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coordinated layers power every voice-driven booking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F1EEFA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566928" cy="566928"/>
          </a:xfrm>
          <a:prstGeom prst="ellipse">
            <a:avLst/>
          </a:prstGeom>
          <a:solidFill>
            <a:srgbClr val="1A1440"/>
          </a:solidFill>
          <a:ln/>
        </p:spPr>
      </p:sp>
      <p:pic>
        <p:nvPicPr>
          <p:cNvPr id="6" name="Image 0" descr="/home/claude/work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83" y="22391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(React + Tailwind)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526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interface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streaming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display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components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 tracking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080760" y="173736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1A1440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103120"/>
            <a:ext cx="566928" cy="566928"/>
          </a:xfrm>
          <a:prstGeom prst="ellipse">
            <a:avLst/>
          </a:prstGeom>
          <a:solidFill>
            <a:srgbClr val="F0A500"/>
          </a:solidFill>
          <a:ln/>
        </p:spPr>
      </p:sp>
      <p:pic>
        <p:nvPicPr>
          <p:cNvPr id="11" name="Image 1" descr="/home/claude/work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863" y="223918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10312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(Python)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00800" y="2971800"/>
            <a:ext cx="4526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API (Whisper / Deepgram)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processing (GPT-4o / Claude)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/ showtime aggregation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QR generation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AI MOVIE CONCIERGE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libraries and services behind the frontend and backend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F1EEFA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12064" cy="512064"/>
          </a:xfrm>
          <a:prstGeom prst="ellipse">
            <a:avLst/>
          </a:prstGeom>
          <a:solidFill>
            <a:srgbClr val="1A1440"/>
          </a:solidFill>
          <a:ln/>
        </p:spPr>
      </p:sp>
      <p:pic>
        <p:nvPicPr>
          <p:cNvPr id="6" name="Image 0" descr="/home/claude/wor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185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57400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788920"/>
            <a:ext cx="3566160" cy="44005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60120" y="3188970"/>
            <a:ext cx="3566160" cy="3600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60120" y="3589020"/>
            <a:ext cx="3566160" cy="44005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60120" y="3989070"/>
            <a:ext cx="3566160" cy="3600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Rapid, responsive styling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60120" y="4389120"/>
            <a:ext cx="3566160" cy="44005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60120" y="4789170"/>
            <a:ext cx="3566160" cy="3600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input/output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60120" y="5189220"/>
            <a:ext cx="3566160" cy="44005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60120" y="5589270"/>
            <a:ext cx="3566160" cy="3600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communication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120640" y="1737360"/>
            <a:ext cx="6309360" cy="4480560"/>
          </a:xfrm>
          <a:prstGeom prst="roundRect">
            <a:avLst>
              <a:gd name="adj" fmla="val 2449"/>
            </a:avLst>
          </a:prstGeom>
          <a:solidFill>
            <a:srgbClr val="F1EEFA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94960" y="2057400"/>
            <a:ext cx="512064" cy="512064"/>
          </a:xfrm>
          <a:prstGeom prst="ellipse">
            <a:avLst/>
          </a:prstGeom>
          <a:solidFill>
            <a:srgbClr val="1A1440"/>
          </a:solidFill>
          <a:ln/>
        </p:spPr>
      </p:sp>
      <p:pic>
        <p:nvPicPr>
          <p:cNvPr id="18" name="Image 1" descr="/home/claude/wor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976" y="2185416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035040" y="2057400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5440680" y="2788920"/>
            <a:ext cx="5669280" cy="29337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(FastAPI/Flask)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5440680" y="3055620"/>
            <a:ext cx="5669280" cy="240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440680" y="3322320"/>
            <a:ext cx="5669280" cy="29337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/ Deepgram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5440680" y="3589020"/>
            <a:ext cx="5669280" cy="240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5440680" y="3855720"/>
            <a:ext cx="5669280" cy="29337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Claude 3.5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5440680" y="4122420"/>
            <a:ext cx="5669280" cy="240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440680" y="4389120"/>
            <a:ext cx="5669280" cy="29337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/ OpenAI TTS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5440680" y="4655820"/>
            <a:ext cx="5669280" cy="240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responses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5440680" y="4922520"/>
            <a:ext cx="5669280" cy="29337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/ Paytm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5440680" y="5189220"/>
            <a:ext cx="5669280" cy="240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QR generation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5440680" y="5455920"/>
            <a:ext cx="5669280" cy="29337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/ SerpAPI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5440680" y="5722620"/>
            <a:ext cx="5669280" cy="240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data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AI MOVIE CONCIERGE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product does, and how it's engineered to do it well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1A1440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566928" cy="566928"/>
          </a:xfrm>
          <a:prstGeom prst="ellipse">
            <a:avLst/>
          </a:prstGeom>
          <a:solidFill>
            <a:srgbClr val="F0A500"/>
          </a:solidFill>
          <a:ln/>
        </p:spPr>
      </p:sp>
      <p:pic>
        <p:nvPicPr>
          <p:cNvPr id="6" name="Image 0" descr="/home/claude/work/icons/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83" y="22391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Capabilities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526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voice commands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Mood-based movie recommendations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 detection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Multi-theater showtime aggregation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confirmation flow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080760" y="173736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F1EEFA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103120"/>
            <a:ext cx="566928" cy="566928"/>
          </a:xfrm>
          <a:prstGeom prst="ellipse">
            <a:avLst/>
          </a:prstGeom>
          <a:solidFill>
            <a:srgbClr val="1A1440"/>
          </a:solidFill>
          <a:ln/>
        </p:spPr>
      </p:sp>
      <p:pic>
        <p:nvPicPr>
          <p:cNvPr id="11" name="Image 1" descr="/home/claude/work/icons/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863" y="223918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10312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Highlights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00800" y="2971800"/>
            <a:ext cx="4526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voice processing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AI conversation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 integration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design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microservices architecture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AI MOVIE CONCIERGE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risks identified early, each with a concrete fix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1EEFA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66544"/>
            <a:ext cx="512064" cy="512064"/>
          </a:xfrm>
          <a:prstGeom prst="ellipse">
            <a:avLst/>
          </a:prstGeom>
          <a:solidFill>
            <a:srgbClr val="1A1440"/>
          </a:solidFill>
          <a:ln/>
        </p:spPr>
      </p:sp>
      <p:pic>
        <p:nvPicPr>
          <p:cNvPr id="6" name="Image 0" descr="/home/claude/work/icons/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1945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1109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508760" y="216712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theater data</a:t>
            </a:r>
            <a:endParaRPr lang="en-US" sz="1450" dirty="0"/>
          </a:p>
        </p:txBody>
      </p:sp>
      <p:pic>
        <p:nvPicPr>
          <p:cNvPr id="9" name="Image 1" descr="/home/claude/wor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185416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75120" y="2066544"/>
            <a:ext cx="512064" cy="512064"/>
          </a:xfrm>
          <a:prstGeom prst="ellipse">
            <a:avLst/>
          </a:prstGeom>
          <a:solidFill>
            <a:srgbClr val="F0A500"/>
          </a:solidFill>
          <a:ln/>
        </p:spPr>
      </p:sp>
      <p:pic>
        <p:nvPicPr>
          <p:cNvPr id="11" name="Image 2" descr="/home/claude/work/icons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36" y="219456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15200" y="19110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315200" y="21671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+ SerpAPI fallback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40080" y="3008376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1EEFA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68680" y="3291840"/>
            <a:ext cx="512064" cy="512064"/>
          </a:xfrm>
          <a:prstGeom prst="ellipse">
            <a:avLst/>
          </a:prstGeom>
          <a:solidFill>
            <a:srgbClr val="1A1440"/>
          </a:solidFill>
          <a:ln/>
        </p:spPr>
      </p:sp>
      <p:pic>
        <p:nvPicPr>
          <p:cNvPr id="16" name="Image 3" descr="/home/claude/work/icons/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41985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08760" y="31363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508760" y="3392424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selection automation</a:t>
            </a:r>
            <a:endParaRPr lang="en-US" sz="1450" dirty="0"/>
          </a:p>
        </p:txBody>
      </p:sp>
      <p:pic>
        <p:nvPicPr>
          <p:cNvPr id="19" name="Image 4" descr="/home/claude/wor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410712"/>
            <a:ext cx="274320" cy="27432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675120" y="3291840"/>
            <a:ext cx="512064" cy="512064"/>
          </a:xfrm>
          <a:prstGeom prst="ellipse">
            <a:avLst/>
          </a:prstGeom>
          <a:solidFill>
            <a:srgbClr val="F0A500"/>
          </a:solidFill>
          <a:ln/>
        </p:spPr>
      </p:sp>
      <p:pic>
        <p:nvPicPr>
          <p:cNvPr id="21" name="Image 5" descr="/home/claude/work/icons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36" y="3419856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315200" y="31363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7315200" y="3392424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auto-selects optimal middle seats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640080" y="4233672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1EEFA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868680" y="4517136"/>
            <a:ext cx="512064" cy="512064"/>
          </a:xfrm>
          <a:prstGeom prst="ellipse">
            <a:avLst/>
          </a:prstGeom>
          <a:solidFill>
            <a:srgbClr val="1A1440"/>
          </a:solidFill>
          <a:ln/>
        </p:spPr>
      </p:sp>
      <p:pic>
        <p:nvPicPr>
          <p:cNvPr id="26" name="Image 6" descr="/home/claude/work/icons/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645152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508760" y="43616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1508760" y="46177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QR with exact amount</a:t>
            </a:r>
            <a:endParaRPr lang="en-US" sz="1450" dirty="0"/>
          </a:p>
        </p:txBody>
      </p:sp>
      <p:pic>
        <p:nvPicPr>
          <p:cNvPr id="29" name="Image 7" descr="/home/claude/wor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636008"/>
            <a:ext cx="274320" cy="27432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6675120" y="4517136"/>
            <a:ext cx="512064" cy="512064"/>
          </a:xfrm>
          <a:prstGeom prst="ellipse">
            <a:avLst/>
          </a:prstGeom>
          <a:solidFill>
            <a:srgbClr val="F0A500"/>
          </a:solidFill>
          <a:ln/>
        </p:spPr>
      </p:sp>
      <p:pic>
        <p:nvPicPr>
          <p:cNvPr id="31" name="Image 8" descr="/home/claude/work/icons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36" y="4645152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315200" y="43616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33" name="Text 22"/>
          <p:cNvSpPr/>
          <p:nvPr/>
        </p:nvSpPr>
        <p:spPr>
          <a:xfrm>
            <a:off x="7315200" y="46177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deep linking with pre-filled details</a:t>
            </a:r>
            <a:endParaRPr lang="en-US" sz="1400" dirty="0"/>
          </a:p>
        </p:txBody>
      </p:sp>
      <p:sp>
        <p:nvSpPr>
          <p:cNvPr id="34" name="Shape 23"/>
          <p:cNvSpPr/>
          <p:nvPr/>
        </p:nvSpPr>
        <p:spPr>
          <a:xfrm>
            <a:off x="640080" y="5458968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1EEFA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868680" y="5742432"/>
            <a:ext cx="512064" cy="512064"/>
          </a:xfrm>
          <a:prstGeom prst="ellipse">
            <a:avLst/>
          </a:prstGeom>
          <a:solidFill>
            <a:srgbClr val="1A1440"/>
          </a:solidFill>
          <a:ln/>
        </p:spPr>
      </p:sp>
      <p:pic>
        <p:nvPicPr>
          <p:cNvPr id="36" name="Image 9" descr="/home/claude/work/icons/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5870448"/>
            <a:ext cx="256032" cy="25603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1508760" y="558698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1508760" y="5843016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accuracy in noise</a:t>
            </a:r>
            <a:endParaRPr lang="en-US" sz="1450" dirty="0"/>
          </a:p>
        </p:txBody>
      </p:sp>
      <p:pic>
        <p:nvPicPr>
          <p:cNvPr id="39" name="Image 10" descr="/home/claude/wor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5861304"/>
            <a:ext cx="274320" cy="274320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6675120" y="5742432"/>
            <a:ext cx="512064" cy="512064"/>
          </a:xfrm>
          <a:prstGeom prst="ellipse">
            <a:avLst/>
          </a:prstGeom>
          <a:solidFill>
            <a:srgbClr val="F0A500"/>
          </a:solidFill>
          <a:ln/>
        </p:spPr>
      </p:sp>
      <p:pic>
        <p:nvPicPr>
          <p:cNvPr id="41" name="Image 11" descr="/home/claude/work/icons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36" y="5870448"/>
            <a:ext cx="256032" cy="256032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7315200" y="55869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43" name="Text 29"/>
          <p:cNvSpPr/>
          <p:nvPr/>
        </p:nvSpPr>
        <p:spPr>
          <a:xfrm>
            <a:off x="7315200" y="5843016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cancellation + confirmation prompts</a:t>
            </a:r>
            <a:endParaRPr lang="en-US" sz="1400" dirty="0"/>
          </a:p>
        </p:txBody>
      </p:sp>
      <p:sp>
        <p:nvSpPr>
          <p:cNvPr id="44" name="Text 30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AI MOVIE CONCIERGE</a:t>
            </a:r>
            <a:endParaRPr lang="en-US" sz="900" dirty="0"/>
          </a:p>
        </p:txBody>
      </p:sp>
      <p:sp>
        <p:nvSpPr>
          <p:cNvPr id="45" name="Text 31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build phases, roughly 2–3 weeks each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62200" y="2212848"/>
            <a:ext cx="7437120" cy="0"/>
          </a:xfrm>
          <a:prstGeom prst="line">
            <a:avLst/>
          </a:prstGeom>
          <a:noFill/>
          <a:ln w="38100">
            <a:solidFill>
              <a:srgbClr val="E7E1F7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3444240" cy="4297680"/>
          </a:xfrm>
          <a:prstGeom prst="roundRect">
            <a:avLst>
              <a:gd name="adj" fmla="val 3186"/>
            </a:avLst>
          </a:prstGeom>
          <a:solidFill>
            <a:srgbClr val="F1EEFA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42160" y="1572768"/>
            <a:ext cx="640080" cy="640080"/>
          </a:xfrm>
          <a:prstGeom prst="ellipse">
            <a:avLst/>
          </a:prstGeom>
          <a:solidFill>
            <a:srgbClr val="F0A5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42160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395728"/>
            <a:ext cx="289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289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3337560"/>
            <a:ext cx="2804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voice input/output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movie search integration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QR code generation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58640" y="1828800"/>
            <a:ext cx="3444240" cy="4297680"/>
          </a:xfrm>
          <a:prstGeom prst="roundRect">
            <a:avLst>
              <a:gd name="adj" fmla="val 3186"/>
            </a:avLst>
          </a:prstGeom>
          <a:solidFill>
            <a:srgbClr val="1A1440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60720" y="1572768"/>
            <a:ext cx="640080" cy="640080"/>
          </a:xfrm>
          <a:prstGeom prst="ellipse">
            <a:avLst/>
          </a:prstGeom>
          <a:solidFill>
            <a:srgbClr val="F0A5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32960" y="2395728"/>
            <a:ext cx="289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Integration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32960" y="2788920"/>
            <a:ext cx="289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78680" y="3337560"/>
            <a:ext cx="2804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mood analysis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filtering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conversation flow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77200" y="1828800"/>
            <a:ext cx="3444240" cy="4297680"/>
          </a:xfrm>
          <a:prstGeom prst="roundRect">
            <a:avLst>
              <a:gd name="adj" fmla="val 3186"/>
            </a:avLst>
          </a:prstGeom>
          <a:solidFill>
            <a:srgbClr val="F1EEFA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79280" y="1572768"/>
            <a:ext cx="640080" cy="640080"/>
          </a:xfrm>
          <a:prstGeom prst="ellipse">
            <a:avLst/>
          </a:prstGeom>
          <a:solidFill>
            <a:srgbClr val="F0A5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79280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51520" y="2395728"/>
            <a:ext cx="289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51520" y="2788920"/>
            <a:ext cx="289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97240" y="3337560"/>
            <a:ext cx="2804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edge cases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 &amp; testing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AI MOVIE CONCIERGE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delivered today, and where the product can grow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1A1440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566928" cy="566928"/>
          </a:xfrm>
          <a:prstGeom prst="ellipse">
            <a:avLst/>
          </a:prstGeom>
          <a:solidFill>
            <a:srgbClr val="F0A500"/>
          </a:solidFill>
          <a:ln/>
        </p:spPr>
      </p:sp>
      <p:pic>
        <p:nvPicPr>
          <p:cNvPr id="6" name="Image 0" descr="/home/claude/work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83" y="22391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Benefits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526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with zero manual input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movie discovery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for all users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payment experience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decision fatigue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080760" y="173736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F1EEFA"/>
          </a:solidFill>
          <a:ln/>
          <a:effectLst>
            <a:outerShdw blurRad="101600" dist="38100" dir="5400000" algn="bl" rotWithShape="0">
              <a:srgbClr val="1A144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103120"/>
            <a:ext cx="566928" cy="566928"/>
          </a:xfrm>
          <a:prstGeom prst="ellipse">
            <a:avLst/>
          </a:prstGeom>
          <a:solidFill>
            <a:srgbClr val="1A1440"/>
          </a:solidFill>
          <a:ln/>
        </p:spPr>
      </p:sp>
      <p:pic>
        <p:nvPicPr>
          <p:cNvPr id="11" name="Image 1" descr="/home/claude/work/icons/trending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863" y="223918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10312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A1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00800" y="2971800"/>
            <a:ext cx="4526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voice support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booking with seat selection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ordering integration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 &amp; rewards</a:t>
            </a:r>
            <a:endParaRPr lang="en-US" sz="1450" dirty="0"/>
          </a:p>
          <a:p>
            <a:pPr marL="228600" indent="-228600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concerts &amp; live shows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AI MOVIE CONCIERGE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657600" cy="3657600"/>
          </a:xfrm>
          <a:prstGeom prst="ellipse">
            <a:avLst/>
          </a:prstGeom>
          <a:solidFill>
            <a:srgbClr val="3D34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Scenario &amp; Q&amp;A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voice conversation, end to 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7680960" cy="1078992"/>
          </a:xfrm>
          <a:prstGeom prst="roundRect">
            <a:avLst>
              <a:gd name="adj" fmla="val 8475"/>
            </a:avLst>
          </a:prstGeom>
          <a:solidFill>
            <a:srgbClr val="3D3470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673352"/>
            <a:ext cx="457200" cy="457200"/>
          </a:xfrm>
          <a:prstGeom prst="ellipse">
            <a:avLst/>
          </a:prstGeom>
          <a:solidFill>
            <a:srgbClr val="3D3470"/>
          </a:solidFill>
          <a:ln/>
        </p:spPr>
      </p:sp>
      <p:pic>
        <p:nvPicPr>
          <p:cNvPr id="7" name="Image 0" descr="/home/claude/work/icons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" y="1787652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78308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039112"/>
            <a:ext cx="71323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‘Aarav, aaj mera mood horror movie dekhne ka hai Bareilly me’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870655" y="2971800"/>
            <a:ext cx="7680960" cy="1078992"/>
          </a:xfrm>
          <a:prstGeom prst="roundRect">
            <a:avLst>
              <a:gd name="adj" fmla="val 8475"/>
            </a:avLst>
          </a:prstGeom>
          <a:solidFill>
            <a:srgbClr val="3D34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40719" y="2953512"/>
            <a:ext cx="457200" cy="457200"/>
          </a:xfrm>
          <a:prstGeom prst="ellipse">
            <a:avLst/>
          </a:prstGeom>
          <a:solidFill>
            <a:srgbClr val="F0A500"/>
          </a:solidFill>
          <a:ln/>
        </p:spPr>
      </p:sp>
      <p:pic>
        <p:nvPicPr>
          <p:cNvPr id="12" name="Image 1" descr="/home/claude/work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5019" y="306781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44975" y="306324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144975" y="3319272"/>
            <a:ext cx="71323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‘Bareilly ke Phoenix United Mall me Stree 2 lag rahi hai 7:30 PM par. Kya main 2 tickets book kar doon?’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7680960" cy="768096"/>
          </a:xfrm>
          <a:prstGeom prst="roundRect">
            <a:avLst>
              <a:gd name="adj" fmla="val 11905"/>
            </a:avLst>
          </a:prstGeom>
          <a:solidFill>
            <a:srgbClr val="3D3470"/>
          </a:solidFill>
          <a:ln/>
        </p:spPr>
      </p:sp>
      <p:sp>
        <p:nvSpPr>
          <p:cNvPr id="16" name="Shape 12"/>
          <p:cNvSpPr/>
          <p:nvPr/>
        </p:nvSpPr>
        <p:spPr>
          <a:xfrm>
            <a:off x="384048" y="4233672"/>
            <a:ext cx="457200" cy="457200"/>
          </a:xfrm>
          <a:prstGeom prst="ellipse">
            <a:avLst/>
          </a:prstGeom>
          <a:solidFill>
            <a:srgbClr val="3D3470"/>
          </a:solidFill>
          <a:ln/>
        </p:spPr>
      </p:sp>
      <p:pic>
        <p:nvPicPr>
          <p:cNvPr id="17" name="Image 2" descr="/home/claude/work/icons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" y="4347972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434340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914400" y="4599432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‘Haan, book kar do’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3870655" y="5221224"/>
            <a:ext cx="7680960" cy="768096"/>
          </a:xfrm>
          <a:prstGeom prst="roundRect">
            <a:avLst>
              <a:gd name="adj" fmla="val 11905"/>
            </a:avLst>
          </a:prstGeom>
          <a:solidFill>
            <a:srgbClr val="3D3470"/>
          </a:solidFill>
          <a:ln/>
        </p:spPr>
      </p:sp>
      <p:sp>
        <p:nvSpPr>
          <p:cNvPr id="21" name="Shape 16"/>
          <p:cNvSpPr/>
          <p:nvPr/>
        </p:nvSpPr>
        <p:spPr>
          <a:xfrm>
            <a:off x="11240719" y="5202936"/>
            <a:ext cx="457200" cy="457200"/>
          </a:xfrm>
          <a:prstGeom prst="ellipse">
            <a:avLst/>
          </a:prstGeom>
          <a:solidFill>
            <a:srgbClr val="3D3470"/>
          </a:solidFill>
          <a:ln/>
        </p:spPr>
      </p:sp>
      <p:pic>
        <p:nvPicPr>
          <p:cNvPr id="22" name="Image 3" descr="/home/claude/work/icons/qr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5019" y="531723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144975" y="531266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144975" y="5568696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displayed → Scan → Payment complete!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10271455" y="6236208"/>
            <a:ext cx="548640" cy="548640"/>
          </a:xfrm>
          <a:prstGeom prst="ellipse">
            <a:avLst/>
          </a:prstGeom>
          <a:solidFill>
            <a:srgbClr val="F0A500"/>
          </a:solidFill>
          <a:ln/>
        </p:spPr>
      </p:sp>
      <p:pic>
        <p:nvPicPr>
          <p:cNvPr id="26" name="Image 4" descr="/home/claude/work/icons/help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3129" y="636788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59775" y="63002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AI MOVIE CONCIERGE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695</Words>
  <Application>Microsoft Office PowerPoint</Application>
  <PresentationFormat>Widescreen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SHOBHIT SAXENA</cp:lastModifiedBy>
  <cp:revision>2</cp:revision>
  <dcterms:created xsi:type="dcterms:W3CDTF">2026-08-14T15:17:38Z</dcterms:created>
  <dcterms:modified xsi:type="dcterms:W3CDTF">2026-08-15T03:46:44Z</dcterms:modified>
</cp:coreProperties>
</file>